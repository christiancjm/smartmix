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PROJETO PBL  ·  ENGENHARIA INFORMÁTICA  ·  2026/27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SmartMix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0F7FA"/>
                </a:solidFill>
                <a:latin typeface="Aptos"/>
              </a:defRPr>
            </a:pPr>
            <a:r>
              <a:t>Sistema inteligente de preparação automática de bebidas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FCFB7"/>
                </a:solidFill>
                <a:latin typeface="Aptos"/>
              </a:defRPr>
            </a:pPr>
            <a:r>
              <a:t>ESP32  ·  Leitura de códigos  ·  Dosagem por peso  ·  REST API  · 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0">
                <a:solidFill>
                  <a:srgbClr val="A6BAC9"/>
                </a:solidFill>
                <a:latin typeface="Aptos"/>
              </a:defRPr>
            </a:pPr>
            <a:r>
              <a:t>Milestone 1  |  Sistemas Distribuídos e Computação Física / IoT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Problema e motivação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F0F7FA"/>
                </a:solidFill>
                <a:latin typeface="Aptos"/>
              </a:defRPr>
            </a:pPr>
            <a:r>
              <a:t>• A preparação manual exige identificação da receita e medição dos ingredientes.</a:t>
            </a:r>
          </a:p>
          <a:p>
            <a:pPr>
              <a:spcAft>
                <a:spcPts val="1400"/>
              </a:spcAft>
              <a:defRPr sz="2200" b="0">
                <a:solidFill>
                  <a:srgbClr val="F0F7FA"/>
                </a:solidFill>
                <a:latin typeface="Aptos"/>
              </a:defRPr>
            </a:pPr>
            <a:r>
              <a:t>• Erros de dosagem e falta de rastreabilidade dificultam a repetibilidade.</a:t>
            </a:r>
          </a:p>
          <a:p>
            <a:pPr>
              <a:spcAft>
                <a:spcPts val="1400"/>
              </a:spcAft>
              <a:defRPr sz="2200" b="0">
                <a:solidFill>
                  <a:srgbClr val="F0F7FA"/>
                </a:solidFill>
                <a:latin typeface="Aptos"/>
              </a:defRPr>
            </a:pPr>
            <a:r>
              <a:t>• Objetivo: demonstrar uma solução IoT acessível, modular e controlada por sensores.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Objetivos e âmbito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Identificar a bebida através de um código de barras ou QR code.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Consultar a receita num serviço REST e numa base de dados MySQL.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Dosear líquidos com bomba peristáltica e feedback de uma célula de carga.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Registar resultados e eventos; expandir de 1 para até 3 ingredientes.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Experiência do utilizador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1. O utilizador coloca o copo na plataforma.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2. O scanner lê o código associado à receita.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3. O ESP32 solicita os ingredientes ao servidor.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4. O sistema aciona a bomba e acompanha a massa medida.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5. A dosagem termina no alvo e o resultado é registado.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Hardware proposto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ESP32: controlo local e ligação Wi-Fi.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GM60 UART: leitura de códigos 1D/2D.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Célula de carga + HX711: deteção do copo e medição da massa.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Bombas peristálticas + MOSFETs: dosagem controlada.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RC522 RFID: autorização opcional para receitas restritas; OLED: estado.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Software e tecnologias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Firmware: C++ / Arduino, desenvolvido em VS Code + PlatformIO.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Backend: Python com FastAPI e endpoints REST.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Persistência: MySQL para receitas, ingredientes e registos de execução.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Comunicação: Wi-Fi / HTTP com mensagens JSON.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GitHub: código, documentação técnica e histórico de alterações.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Arquitetura distribuída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017520" cy="1417320"/>
          </a:xfrm>
          <a:prstGeom prst="roundRect">
            <a:avLst/>
          </a:prstGeom>
          <a:solidFill>
            <a:srgbClr val="1C354A"/>
          </a:solidFill>
          <a:ln>
            <a:solidFill>
              <a:srgbClr val="1FC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F0F7FA"/>
                </a:solidFill>
                <a:latin typeface="Aptos"/>
              </a:defRPr>
            </a:pPr>
            <a:r>
              <a:t>CAMADA FÍSICA</a:t>
            </a:r>
          </a:p>
          <a:p>
            <a:pPr>
              <a:spcAft>
                <a:spcPts val="1400"/>
              </a:spcAft>
              <a:defRPr sz="1800" b="0">
                <a:solidFill>
                  <a:srgbClr val="F0F7FA"/>
                </a:solidFill>
                <a:latin typeface="Aptos"/>
              </a:defRPr>
            </a:pPr>
            <a:r>
              <a:t>Scanner · HX711 · Bomba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423160"/>
            <a:ext cx="3017520" cy="1417320"/>
          </a:xfrm>
          <a:prstGeom prst="roundRect">
            <a:avLst/>
          </a:prstGeom>
          <a:solidFill>
            <a:srgbClr val="1C354A"/>
          </a:solidFill>
          <a:ln>
            <a:solidFill>
              <a:srgbClr val="1FC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6974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F0F7FA"/>
                </a:solidFill>
                <a:latin typeface="Aptos"/>
              </a:defRPr>
            </a:pPr>
            <a:r>
              <a:t>ESP32</a:t>
            </a:r>
          </a:p>
          <a:p>
            <a:pPr>
              <a:spcAft>
                <a:spcPts val="1400"/>
              </a:spcAft>
              <a:defRPr sz="1800" b="0">
                <a:solidFill>
                  <a:srgbClr val="F0F7FA"/>
                </a:solidFill>
                <a:latin typeface="Aptos"/>
              </a:defRPr>
            </a:pPr>
            <a:r>
              <a:t>Firmware · controlo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423160"/>
            <a:ext cx="3017520" cy="1417320"/>
          </a:xfrm>
          <a:prstGeom prst="roundRect">
            <a:avLst/>
          </a:prstGeom>
          <a:solidFill>
            <a:srgbClr val="1C354A"/>
          </a:solidFill>
          <a:ln>
            <a:solidFill>
              <a:srgbClr val="1FC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26974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F0F7FA"/>
                </a:solidFill>
                <a:latin typeface="Aptos"/>
              </a:defRPr>
            </a:pPr>
            <a:r>
              <a:t>SERVIDOR</a:t>
            </a:r>
          </a:p>
          <a:p>
            <a:pPr>
              <a:spcAft>
                <a:spcPts val="1400"/>
              </a:spcAft>
              <a:defRPr sz="1800" b="0">
                <a:solidFill>
                  <a:srgbClr val="F0F7FA"/>
                </a:solidFill>
                <a:latin typeface="Aptos"/>
              </a:defRPr>
            </a:pPr>
            <a:r>
              <a:t>FastAPI ·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5292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FCFB7"/>
                </a:solidFill>
                <a:latin typeface="Aptos"/>
              </a:defRPr>
            </a:pPr>
            <a:r>
              <a:t>Sinais / UART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85292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FCFB7"/>
                </a:solidFill>
                <a:latin typeface="Aptos"/>
              </a:defRPr>
            </a:pPr>
            <a:r>
              <a:t>Wi-Fi /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A6BAC9"/>
                </a:solidFill>
                <a:latin typeface="Aptos"/>
              </a:defRPr>
            </a:pPr>
            <a:r>
              <a:t>O controlo de segurança e a paragem da bomba permanecem no ESP32.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Protótipo físico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Plataforma rígida com célula de carga sob o copo.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Scanner fixo junto à área de leitura do código.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Reservatórios separados ligados por tubos à bomba e ao copo.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ESP32 e circuitos de potência protegidos de eventuais derrames.</a:t>
            </a:r>
          </a:p>
          <a:p>
            <a:pPr>
              <a:spcAft>
                <a:spcPts val="1400"/>
              </a:spcAft>
              <a:defRPr sz="2000" b="0">
                <a:solidFill>
                  <a:srgbClr val="F0F7FA"/>
                </a:solidFill>
                <a:latin typeface="Aptos"/>
              </a:defRPr>
            </a:pPr>
            <a:r>
              <a:t>• Primeira versão: uma bomba; arquitetura preparada para três canais.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Plano de desenvolvimento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Outubro: proposta, levantamento de materiais e configuração do ESP32.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Novembro: leitura do scanner, medição de peso, API e primeira bomba funcional.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30/11: demonstrar integração real de hardware e software (Milestone 2).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Dezembro–janeiro: expandir canais, registos, testes e documentação.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Fevereiro: integração final, demonstração e apresentação.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FCFB7"/>
                </a:solidFill>
                <a:latin typeface="Aptos"/>
              </a:defRPr>
            </a:pPr>
            <a:r>
              <a:t>SMARTMIX  /  PROPOSTA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300" b="1">
                <a:solidFill>
                  <a:srgbClr val="F0F7FA"/>
                </a:solidFill>
                <a:latin typeface="Aptos"/>
              </a:defRPr>
            </a:pPr>
            <a:r>
              <a:t>Riscos, validação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85800" cy="50292"/>
          </a:xfrm>
          <a:prstGeom prst="rect">
            <a:avLst/>
          </a:prstGeom>
          <a:solidFill>
            <a:srgbClr val="1FC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A6BAC9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Riscos: ligações elétricas, calibração da balança, precisão e latência de dosagem.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Mitigação: validação individual de sensores e atuadores antes da integração.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Testes: código válido/inválido, copo ausente, limite de peso e falha de rede.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Estado atual: ambiente PlatformIO configurado e comunicação série validada.</a:t>
            </a:r>
          </a:p>
          <a:p>
            <a:pPr>
              <a:spcAft>
                <a:spcPts val="1400"/>
              </a:spcAft>
              <a:defRPr sz="1900" b="0">
                <a:solidFill>
                  <a:srgbClr val="F0F7FA"/>
                </a:solidFill>
                <a:latin typeface="Aptos"/>
              </a:defRPr>
            </a:pPr>
            <a:r>
              <a:t>• Próximo objetivo: leitura real do GM60 e calibração do HX711.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